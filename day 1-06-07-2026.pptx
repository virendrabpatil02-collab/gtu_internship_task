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C3513-1502-9B46-9F32-C0D9B2F086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C7D96D-896F-CB4E-A3E5-F0B14D76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11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 /><Relationship Id="rId3" Type="http://schemas.openxmlformats.org/officeDocument/2006/relationships/image" Target="../media/image5.png" /><Relationship Id="rId7" Type="http://schemas.openxmlformats.org/officeDocument/2006/relationships/image" Target="../media/image9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1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 /><Relationship Id="rId3" Type="http://schemas.openxmlformats.org/officeDocument/2006/relationships/image" Target="../media/image16.png" /><Relationship Id="rId7" Type="http://schemas.openxmlformats.org/officeDocument/2006/relationships/image" Target="../media/image17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7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png" /><Relationship Id="rId4" Type="http://schemas.openxmlformats.org/officeDocument/2006/relationships/image" Target="../media/image14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 /><Relationship Id="rId3" Type="http://schemas.openxmlformats.org/officeDocument/2006/relationships/image" Target="../media/image11.png" /><Relationship Id="rId7" Type="http://schemas.openxmlformats.org/officeDocument/2006/relationships/image" Target="../media/image17.png" /><Relationship Id="rId12" Type="http://schemas.openxmlformats.org/officeDocument/2006/relationships/image" Target="../media/image1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8.png" /><Relationship Id="rId11" Type="http://schemas.openxmlformats.org/officeDocument/2006/relationships/image" Target="../media/image22.png" /><Relationship Id="rId5" Type="http://schemas.openxmlformats.org/officeDocument/2006/relationships/image" Target="../media/image15.png" /><Relationship Id="rId10" Type="http://schemas.openxmlformats.org/officeDocument/2006/relationships/image" Target="../media/image13.png" /><Relationship Id="rId4" Type="http://schemas.openxmlformats.org/officeDocument/2006/relationships/image" Target="../media/image19.png" /><Relationship Id="rId9" Type="http://schemas.openxmlformats.org/officeDocument/2006/relationships/image" Target="../media/image21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23.png" /><Relationship Id="rId7" Type="http://schemas.openxmlformats.org/officeDocument/2006/relationships/image" Target="../media/image14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9.png" /><Relationship Id="rId5" Type="http://schemas.openxmlformats.org/officeDocument/2006/relationships/image" Target="../media/image12.png" /><Relationship Id="rId4" Type="http://schemas.openxmlformats.org/officeDocument/2006/relationships/image" Target="../media/image18.png" /><Relationship Id="rId9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E5C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4FA39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9966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  ·  SDG 17 &amp; GREEN SKILLING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for a Sustainable Future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SDG 17, the environmental cost of data, and how green skilling prepares us for a climate-ready future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7863840" cy="1965960"/>
          </a:xfrm>
          <a:prstGeom prst="roundRect">
            <a:avLst>
              <a:gd name="adj" fmla="val 3721"/>
            </a:avLst>
          </a:prstGeom>
          <a:solidFill>
            <a:srgbClr val="0F413C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572000"/>
            <a:ext cx="512064" cy="512064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75" y="469489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553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46304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Virendra Bharat Patil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800600" y="4572000"/>
            <a:ext cx="512064" cy="512064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495" y="4694895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4960" y="4553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39496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240840131153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68680" y="5486400"/>
            <a:ext cx="512064" cy="512064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575" y="5609295"/>
            <a:ext cx="266273" cy="26627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5468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463040" y="5715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 (CSE)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800600" y="5486400"/>
            <a:ext cx="512064" cy="512064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3495" y="5609295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94960" y="5468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394960" y="5715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N. G. Patel Institute of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0" y="1947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FD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partnerships matter in solving global problems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920240"/>
            <a:ext cx="640080" cy="640080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899" y="20738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947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FD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1772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Centres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063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documentary revealed about AI's energy appetite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78308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659" y="207385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0" y="1947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FD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1248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Tools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12480" y="3063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Footprint, carbon &amp; emission calculators I explored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25196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389120"/>
            <a:ext cx="640080" cy="640080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" y="454273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200400" y="4416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FD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22960" y="5166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Evidence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22960" y="5532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from each tool I used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43400" y="425196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26280" y="4389120"/>
            <a:ext cx="640080" cy="640080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899" y="454273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95160" y="4416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FD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4617720" y="5166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Skilling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617720" y="5532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push to build a climate-ready workforce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38160" y="4251960"/>
            <a:ext cx="34747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21040" y="4389120"/>
            <a:ext cx="640080" cy="640080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4659" y="4542739"/>
            <a:ext cx="332842" cy="33284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789920" y="4416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FDA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8412480" y="5166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Sustainability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412480" y="5532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helps the planet — and where it hurts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 Sustainable Future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730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202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1623060" y="754380"/>
            <a:ext cx="960120" cy="960120"/>
          </a:xfrm>
          <a:prstGeom prst="ellipse">
            <a:avLst/>
          </a:prstGeom>
          <a:solidFill>
            <a:srgbClr val="0F413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489" y="98480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GOALS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FAVOURITE SDG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Partnerships Are the Glue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617720" y="16002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 argues that no single government, company, or citizen can solve climate change, poverty, or inequality alone. 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for stronger cooperation between governments, industry, and civil society, better data and technology sharing, and fairer global trade and finance — the connective tissue that lets the other 16 goals actually work.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700016" y="3310128"/>
            <a:ext cx="384048" cy="384048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188" y="3402300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32461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Multi-stakeholder alliances (govt + industry + NGOs) move faster than any one actor working alone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00016" y="4270248"/>
            <a:ext cx="384048" cy="384048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188" y="4362420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42062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shared data is treated as key infrastructure — the same logic behind open climate dashboards and calculators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700016" y="5230368"/>
            <a:ext cx="384048" cy="384048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188" y="5322540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516636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transfer between developed &amp; developing nations is central to closing the green-skills gap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 Sustainable Future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DOCUMENTARY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Data Centre — AI's Hidden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documentary followed the servers, cables and cooling towers behind everyday AI tools. The biggest lesson: every prompt, search or generated image is a physical event — electricity is burned and water is evaporated somewhere on Earth.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60320" cy="2651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674620"/>
            <a:ext cx="685800" cy="685800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28392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945 TWh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4069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global data-centre electricity use by 2030 — more than double 2024 levels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2514600"/>
            <a:ext cx="2560320" cy="2651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0540" y="2674620"/>
            <a:ext cx="685800" cy="685800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28392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4.2–6.6 bn m³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566160" y="4069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water withdrawn for AI cooling by 2027, per published research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2514600"/>
            <a:ext cx="2560320" cy="2651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55180" y="2674620"/>
            <a:ext cx="685800" cy="685800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772" y="28392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10–28%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400800" y="4069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data-centre energy already consumed by AI workloads alone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52560" y="2514600"/>
            <a:ext cx="2560320" cy="2651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9820" y="2674620"/>
            <a:ext cx="685800" cy="685800"/>
          </a:xfrm>
          <a:prstGeom prst="ellipse">
            <a:avLst/>
          </a:prstGeom>
          <a:solidFill>
            <a:srgbClr val="E1F0E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412" y="283921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30–40%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235440" y="4069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Portion of a typical data-centre's total energy spent just on cooling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IEA Energy &amp; AI Report (2025); UNU-INWEH (2026); peer-reviewed water-footprint studies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 Sustainable Future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I Explored to Measure My Own Footprint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5200" cy="1920240"/>
          </a:xfrm>
          <a:prstGeom prst="roundRect">
            <a:avLst>
              <a:gd name="adj" fmla="val 3333"/>
            </a:avLst>
          </a:prstGeom>
          <a:solidFill>
            <a:srgbClr val="F4F8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81965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39" y="195571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68880"/>
            <a:ext cx="2993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Footprint Calculator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2926080"/>
            <a:ext cx="2993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my lifestyle (food, travel, home energy) into 'number of Earths' needed if everyone lived like me.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28160" y="1691640"/>
            <a:ext cx="3505200" cy="1920240"/>
          </a:xfrm>
          <a:prstGeom prst="roundRect">
            <a:avLst>
              <a:gd name="adj" fmla="val 3333"/>
            </a:avLst>
          </a:prstGeom>
          <a:solidFill>
            <a:srgbClr val="F4F8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1896" y="181965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959" y="195571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4192" y="2468880"/>
            <a:ext cx="2993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International — Carbon Calculator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84192" y="2926080"/>
            <a:ext cx="2993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my personal annual CO2 footprint across home, travel, food and shopping categories.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07680" y="1691640"/>
            <a:ext cx="3505200" cy="1920240"/>
          </a:xfrm>
          <a:prstGeom prst="roundRect">
            <a:avLst>
              <a:gd name="adj" fmla="val 3333"/>
            </a:avLst>
          </a:prstGeom>
          <a:solidFill>
            <a:srgbClr val="F4F8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81416" y="181965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479" y="195571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3712" y="2468880"/>
            <a:ext cx="2993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EcoTransIT World — Emission Calculator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63712" y="2926080"/>
            <a:ext cx="2993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CO2 emissions of the same journey by road, rail, sea and air freight/transport.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05200" cy="1920240"/>
          </a:xfrm>
          <a:prstGeom prst="roundRect">
            <a:avLst>
              <a:gd name="adj" fmla="val 3333"/>
            </a:avLst>
          </a:prstGeom>
          <a:solidFill>
            <a:srgbClr val="F4F8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" y="4014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39" y="4150279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63440"/>
            <a:ext cx="2993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 — MIT Climate Simulator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04672" y="5120640"/>
            <a:ext cx="2993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global policy levers (carbon price, renewables, deforestation) and watched projected 2100 warming shift in real time.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28160" y="3886200"/>
            <a:ext cx="3505200" cy="1920240"/>
          </a:xfrm>
          <a:prstGeom prst="roundRect">
            <a:avLst>
              <a:gd name="adj" fmla="val 3333"/>
            </a:avLst>
          </a:prstGeom>
          <a:solidFill>
            <a:srgbClr val="F4F8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1896" y="4014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959" y="4150279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4192" y="4663440"/>
            <a:ext cx="2993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 (NITI Aayog) — CO2 Calculator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84192" y="5120640"/>
            <a:ext cx="2993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India's official EV portal to compare emissions of a petrol/diesel vehicle against an electric vehicle.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07680" y="3886200"/>
            <a:ext cx="3505200" cy="1920240"/>
          </a:xfrm>
          <a:prstGeom prst="roundRect">
            <a:avLst>
              <a:gd name="adj" fmla="val 3333"/>
            </a:avLst>
          </a:prstGeom>
          <a:solidFill>
            <a:srgbClr val="F4F8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81416" y="4014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7479" y="4150279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3712" y="4663440"/>
            <a:ext cx="2993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 — AI Waste Monitoring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63712" y="5120640"/>
            <a:ext cx="2993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how AI-powered smart bins track and sort waste in real time across 80+ companies and 17 countries.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 Sustainable Future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Mockups — Footprint &amp; Carbon Calculators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Self-made illustrative mockups of each activity — swap in your own live screenshot before submitting.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4424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3444240" cy="29260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157984"/>
            <a:ext cx="91440" cy="91440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91440" cy="91440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157984"/>
            <a:ext cx="91440" cy="91440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2112264"/>
            <a:ext cx="27127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F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107692"/>
            <a:ext cx="2621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footprintcalculator.org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77240" y="3685032"/>
            <a:ext cx="2987040" cy="262433"/>
          </a:xfrm>
          <a:prstGeom prst="roundRect">
            <a:avLst>
              <a:gd name="adj" fmla="val 17422"/>
            </a:avLst>
          </a:prstGeom>
          <a:solidFill>
            <a:srgbClr val="DCEAE6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685032"/>
            <a:ext cx="2031187" cy="262433"/>
          </a:xfrm>
          <a:prstGeom prst="roundRect">
            <a:avLst>
              <a:gd name="adj" fmla="val 17422"/>
            </a:avLst>
          </a:prstGeom>
          <a:solidFill>
            <a:srgbClr val="E2703A"/>
          </a:solidFill>
          <a:ln/>
        </p:spPr>
      </p:sp>
      <p:sp>
        <p:nvSpPr>
          <p:cNvPr id="14" name="Shape 12"/>
          <p:cNvSpPr/>
          <p:nvPr/>
        </p:nvSpPr>
        <p:spPr>
          <a:xfrm>
            <a:off x="2650968" y="3606302"/>
            <a:ext cx="419892" cy="4198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5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654046"/>
            <a:ext cx="298704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Earths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4075481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everyone lived like you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4773168"/>
            <a:ext cx="326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Footprint Calculator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replace with your own 'Earths needed' result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58640" y="2057400"/>
            <a:ext cx="344424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58640" y="2057400"/>
            <a:ext cx="3444240" cy="29260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468368" y="2157984"/>
            <a:ext cx="91440" cy="91440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4672" y="2157984"/>
            <a:ext cx="91440" cy="91440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23" name="Shape 21"/>
          <p:cNvSpPr/>
          <p:nvPr/>
        </p:nvSpPr>
        <p:spPr>
          <a:xfrm>
            <a:off x="4760976" y="2157984"/>
            <a:ext cx="91440" cy="91440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24" name="Shape 22"/>
          <p:cNvSpPr/>
          <p:nvPr/>
        </p:nvSpPr>
        <p:spPr>
          <a:xfrm>
            <a:off x="4953000" y="2112264"/>
            <a:ext cx="27127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FE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8720" y="2107692"/>
            <a:ext cx="2621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footprint.conservation.org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587240" y="2560320"/>
            <a:ext cx="1015594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92445" y="2719654"/>
            <a:ext cx="1792224" cy="159334"/>
          </a:xfrm>
          <a:prstGeom prst="roundRect">
            <a:avLst>
              <a:gd name="adj" fmla="val 17217"/>
            </a:avLst>
          </a:prstGeom>
          <a:solidFill>
            <a:srgbClr val="DCEAE6"/>
          </a:solidFill>
          <a:ln/>
        </p:spPr>
      </p:sp>
      <p:sp>
        <p:nvSpPr>
          <p:cNvPr id="28" name="Shape 26"/>
          <p:cNvSpPr/>
          <p:nvPr/>
        </p:nvSpPr>
        <p:spPr>
          <a:xfrm>
            <a:off x="5692445" y="2719654"/>
            <a:ext cx="985723" cy="159334"/>
          </a:xfrm>
          <a:prstGeom prst="roundRect">
            <a:avLst>
              <a:gd name="adj" fmla="val 17217"/>
            </a:avLst>
          </a:prstGeom>
          <a:solidFill>
            <a:srgbClr val="0E5C56"/>
          </a:solidFill>
          <a:ln/>
        </p:spPr>
      </p:sp>
      <p:sp>
        <p:nvSpPr>
          <p:cNvPr id="29" name="Text 27"/>
          <p:cNvSpPr/>
          <p:nvPr/>
        </p:nvSpPr>
        <p:spPr>
          <a:xfrm>
            <a:off x="4587240" y="3028950"/>
            <a:ext cx="1015594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92445" y="3188284"/>
            <a:ext cx="1792224" cy="159334"/>
          </a:xfrm>
          <a:prstGeom prst="roundRect">
            <a:avLst>
              <a:gd name="adj" fmla="val 17217"/>
            </a:avLst>
          </a:prstGeom>
          <a:solidFill>
            <a:srgbClr val="DCEAE6"/>
          </a:solidFill>
          <a:ln/>
        </p:spPr>
      </p:sp>
      <p:sp>
        <p:nvSpPr>
          <p:cNvPr id="31" name="Shape 29"/>
          <p:cNvSpPr/>
          <p:nvPr/>
        </p:nvSpPr>
        <p:spPr>
          <a:xfrm>
            <a:off x="5692445" y="3188284"/>
            <a:ext cx="1433779" cy="159334"/>
          </a:xfrm>
          <a:prstGeom prst="roundRect">
            <a:avLst>
              <a:gd name="adj" fmla="val 17217"/>
            </a:avLst>
          </a:prstGeom>
          <a:solidFill>
            <a:srgbClr val="E2703A"/>
          </a:solidFill>
          <a:ln/>
        </p:spPr>
      </p:sp>
      <p:sp>
        <p:nvSpPr>
          <p:cNvPr id="32" name="Text 30"/>
          <p:cNvSpPr/>
          <p:nvPr/>
        </p:nvSpPr>
        <p:spPr>
          <a:xfrm>
            <a:off x="4587240" y="3497580"/>
            <a:ext cx="1015594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92445" y="3656914"/>
            <a:ext cx="1792224" cy="159334"/>
          </a:xfrm>
          <a:prstGeom prst="roundRect">
            <a:avLst>
              <a:gd name="adj" fmla="val 17217"/>
            </a:avLst>
          </a:prstGeom>
          <a:solidFill>
            <a:srgbClr val="DCEAE6"/>
          </a:solidFill>
          <a:ln/>
        </p:spPr>
      </p:sp>
      <p:sp>
        <p:nvSpPr>
          <p:cNvPr id="34" name="Shape 32"/>
          <p:cNvSpPr/>
          <p:nvPr/>
        </p:nvSpPr>
        <p:spPr>
          <a:xfrm>
            <a:off x="5692445" y="3656914"/>
            <a:ext cx="716890" cy="159334"/>
          </a:xfrm>
          <a:prstGeom prst="roundRect">
            <a:avLst>
              <a:gd name="adj" fmla="val 17217"/>
            </a:avLst>
          </a:prstGeom>
          <a:solidFill>
            <a:srgbClr val="0E5C56"/>
          </a:solidFill>
          <a:ln/>
        </p:spPr>
      </p:sp>
      <p:sp>
        <p:nvSpPr>
          <p:cNvPr id="35" name="Text 33"/>
          <p:cNvSpPr/>
          <p:nvPr/>
        </p:nvSpPr>
        <p:spPr>
          <a:xfrm>
            <a:off x="4587240" y="3966210"/>
            <a:ext cx="1015594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92445" y="4125544"/>
            <a:ext cx="1792224" cy="159334"/>
          </a:xfrm>
          <a:prstGeom prst="roundRect">
            <a:avLst>
              <a:gd name="adj" fmla="val 17217"/>
            </a:avLst>
          </a:prstGeom>
          <a:solidFill>
            <a:srgbClr val="DCEAE6"/>
          </a:solidFill>
          <a:ln/>
        </p:spPr>
      </p:sp>
      <p:sp>
        <p:nvSpPr>
          <p:cNvPr id="37" name="Shape 35"/>
          <p:cNvSpPr/>
          <p:nvPr/>
        </p:nvSpPr>
        <p:spPr>
          <a:xfrm>
            <a:off x="5692445" y="4125544"/>
            <a:ext cx="537667" cy="159334"/>
          </a:xfrm>
          <a:prstGeom prst="roundRect">
            <a:avLst>
              <a:gd name="adj" fmla="val 17217"/>
            </a:avLst>
          </a:prstGeom>
          <a:solidFill>
            <a:srgbClr val="4FA394"/>
          </a:solidFill>
          <a:ln/>
        </p:spPr>
      </p:sp>
      <p:sp>
        <p:nvSpPr>
          <p:cNvPr id="38" name="Text 36"/>
          <p:cNvSpPr/>
          <p:nvPr/>
        </p:nvSpPr>
        <p:spPr>
          <a:xfrm>
            <a:off x="4450080" y="4773168"/>
            <a:ext cx="326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Conservation.org Carbon Calculator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95800" y="51206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replace with your own annual CO2 total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168640" y="2057400"/>
            <a:ext cx="344424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68640" y="2057400"/>
            <a:ext cx="3444240" cy="29260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42" name="Shape 40"/>
          <p:cNvSpPr/>
          <p:nvPr/>
        </p:nvSpPr>
        <p:spPr>
          <a:xfrm>
            <a:off x="8278368" y="2157984"/>
            <a:ext cx="91440" cy="91440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43" name="Shape 41"/>
          <p:cNvSpPr/>
          <p:nvPr/>
        </p:nvSpPr>
        <p:spPr>
          <a:xfrm>
            <a:off x="8424672" y="2157984"/>
            <a:ext cx="91440" cy="91440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44" name="Shape 42"/>
          <p:cNvSpPr/>
          <p:nvPr/>
        </p:nvSpPr>
        <p:spPr>
          <a:xfrm>
            <a:off x="8570976" y="2157984"/>
            <a:ext cx="91440" cy="91440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45" name="Shape 43"/>
          <p:cNvSpPr/>
          <p:nvPr/>
        </p:nvSpPr>
        <p:spPr>
          <a:xfrm>
            <a:off x="8763000" y="2112264"/>
            <a:ext cx="27127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FE0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08720" y="2107692"/>
            <a:ext cx="2621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emissioncalculator.ecotransit.world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397240" y="2560320"/>
            <a:ext cx="1015594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502445" y="2772766"/>
            <a:ext cx="1792224" cy="212446"/>
          </a:xfrm>
          <a:prstGeom prst="roundRect">
            <a:avLst>
              <a:gd name="adj" fmla="val 12912"/>
            </a:avLst>
          </a:prstGeom>
          <a:solidFill>
            <a:srgbClr val="DCEAE6"/>
          </a:solidFill>
          <a:ln/>
        </p:spPr>
      </p:sp>
      <p:sp>
        <p:nvSpPr>
          <p:cNvPr id="49" name="Shape 47"/>
          <p:cNvSpPr/>
          <p:nvPr/>
        </p:nvSpPr>
        <p:spPr>
          <a:xfrm>
            <a:off x="9502445" y="2772766"/>
            <a:ext cx="448056" cy="212446"/>
          </a:xfrm>
          <a:prstGeom prst="roundRect">
            <a:avLst>
              <a:gd name="adj" fmla="val 12912"/>
            </a:avLst>
          </a:prstGeom>
          <a:solidFill>
            <a:srgbClr val="0E5C56"/>
          </a:solidFill>
          <a:ln/>
        </p:spPr>
      </p:sp>
      <p:sp>
        <p:nvSpPr>
          <p:cNvPr id="50" name="Text 48"/>
          <p:cNvSpPr/>
          <p:nvPr/>
        </p:nvSpPr>
        <p:spPr>
          <a:xfrm>
            <a:off x="8397240" y="3185160"/>
            <a:ext cx="1015594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502445" y="3397606"/>
            <a:ext cx="1792224" cy="212446"/>
          </a:xfrm>
          <a:prstGeom prst="roundRect">
            <a:avLst>
              <a:gd name="adj" fmla="val 12912"/>
            </a:avLst>
          </a:prstGeom>
          <a:solidFill>
            <a:srgbClr val="DCEAE6"/>
          </a:solidFill>
          <a:ln/>
        </p:spPr>
      </p:sp>
      <p:sp>
        <p:nvSpPr>
          <p:cNvPr id="52" name="Shape 50"/>
          <p:cNvSpPr/>
          <p:nvPr/>
        </p:nvSpPr>
        <p:spPr>
          <a:xfrm>
            <a:off x="9502445" y="3397606"/>
            <a:ext cx="985723" cy="212446"/>
          </a:xfrm>
          <a:prstGeom prst="roundRect">
            <a:avLst>
              <a:gd name="adj" fmla="val 12912"/>
            </a:avLst>
          </a:prstGeom>
          <a:solidFill>
            <a:srgbClr val="E2703A"/>
          </a:solidFill>
          <a:ln/>
        </p:spPr>
      </p:sp>
      <p:sp>
        <p:nvSpPr>
          <p:cNvPr id="53" name="Text 51"/>
          <p:cNvSpPr/>
          <p:nvPr/>
        </p:nvSpPr>
        <p:spPr>
          <a:xfrm>
            <a:off x="8397240" y="3810000"/>
            <a:ext cx="1015594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502445" y="4022446"/>
            <a:ext cx="1792224" cy="212446"/>
          </a:xfrm>
          <a:prstGeom prst="roundRect">
            <a:avLst>
              <a:gd name="adj" fmla="val 12912"/>
            </a:avLst>
          </a:prstGeom>
          <a:solidFill>
            <a:srgbClr val="DCEAE6"/>
          </a:solidFill>
          <a:ln/>
        </p:spPr>
      </p:sp>
      <p:sp>
        <p:nvSpPr>
          <p:cNvPr id="55" name="Shape 53"/>
          <p:cNvSpPr/>
          <p:nvPr/>
        </p:nvSpPr>
        <p:spPr>
          <a:xfrm>
            <a:off x="9502445" y="4022446"/>
            <a:ext cx="1702613" cy="212446"/>
          </a:xfrm>
          <a:prstGeom prst="roundRect">
            <a:avLst>
              <a:gd name="adj" fmla="val 12912"/>
            </a:avLst>
          </a:prstGeom>
          <a:solidFill>
            <a:srgbClr val="C1442E"/>
          </a:solidFill>
          <a:ln/>
        </p:spPr>
      </p:sp>
      <p:sp>
        <p:nvSpPr>
          <p:cNvPr id="56" name="Text 54"/>
          <p:cNvSpPr/>
          <p:nvPr/>
        </p:nvSpPr>
        <p:spPr>
          <a:xfrm>
            <a:off x="8260080" y="4773168"/>
            <a:ext cx="326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EcoTransIT Emission Calculator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305800" y="51206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replace with your own route comparison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 Sustainable Future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Mockups — Simulations &amp; Government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Self-made illustrative mockups of each activity — swap in your own live screenshot before submitting.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4424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3444240" cy="29260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157984"/>
            <a:ext cx="91440" cy="91440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91440" cy="91440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157984"/>
            <a:ext cx="91440" cy="91440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2112264"/>
            <a:ext cx="27127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F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107692"/>
            <a:ext cx="2621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en-roads.climateinteractive.org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77240" y="3028950"/>
            <a:ext cx="1356360" cy="1068476"/>
          </a:xfrm>
          <a:prstGeom prst="roundRect">
            <a:avLst>
              <a:gd name="adj" fmla="val 3423"/>
            </a:avLst>
          </a:prstGeom>
          <a:solidFill>
            <a:srgbClr val="C144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54630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3.6°C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52290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 usual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07920" y="3400105"/>
            <a:ext cx="1356360" cy="697321"/>
          </a:xfrm>
          <a:prstGeom prst="roundRect">
            <a:avLst>
              <a:gd name="adj" fmla="val 5245"/>
            </a:avLst>
          </a:prstGeom>
          <a:solidFill>
            <a:srgbClr val="0E5C56"/>
          </a:solidFill>
          <a:ln/>
        </p:spPr>
      </p:sp>
      <p:sp>
        <p:nvSpPr>
          <p:cNvPr id="16" name="Text 14"/>
          <p:cNvSpPr/>
          <p:nvPr/>
        </p:nvSpPr>
        <p:spPr>
          <a:xfrm>
            <a:off x="2270760" y="3125785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2.4°C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70760" y="4152290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scenario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4773168"/>
            <a:ext cx="326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 MIT Climate Simulator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1206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replace with your own scenario result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58640" y="2057400"/>
            <a:ext cx="344424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58640" y="2057400"/>
            <a:ext cx="3444240" cy="29260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22" name="Shape 20"/>
          <p:cNvSpPr/>
          <p:nvPr/>
        </p:nvSpPr>
        <p:spPr>
          <a:xfrm>
            <a:off x="4468368" y="2157984"/>
            <a:ext cx="91440" cy="91440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4672" y="2157984"/>
            <a:ext cx="91440" cy="91440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24" name="Shape 22"/>
          <p:cNvSpPr/>
          <p:nvPr/>
        </p:nvSpPr>
        <p:spPr>
          <a:xfrm>
            <a:off x="4760976" y="2157984"/>
            <a:ext cx="91440" cy="91440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25" name="Shape 23"/>
          <p:cNvSpPr/>
          <p:nvPr/>
        </p:nvSpPr>
        <p:spPr>
          <a:xfrm>
            <a:off x="4953000" y="2112264"/>
            <a:ext cx="27127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F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8720" y="2107692"/>
            <a:ext cx="2621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e-amrit.niti.gov.in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87240" y="3085186"/>
            <a:ext cx="1356360" cy="1012241"/>
          </a:xfrm>
          <a:prstGeom prst="roundRect">
            <a:avLst>
              <a:gd name="adj" fmla="val 3613"/>
            </a:avLst>
          </a:prstGeom>
          <a:solidFill>
            <a:srgbClr val="C1442E"/>
          </a:solidFill>
          <a:ln/>
        </p:spPr>
      </p:sp>
      <p:sp>
        <p:nvSpPr>
          <p:cNvPr id="28" name="Text 26"/>
          <p:cNvSpPr/>
          <p:nvPr/>
        </p:nvSpPr>
        <p:spPr>
          <a:xfrm>
            <a:off x="4450080" y="2810866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t/yr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50080" y="4152290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vehicle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3703777"/>
            <a:ext cx="1356360" cy="393649"/>
          </a:xfrm>
          <a:prstGeom prst="roundRect">
            <a:avLst>
              <a:gd name="adj" fmla="val 9292"/>
            </a:avLst>
          </a:prstGeom>
          <a:solidFill>
            <a:srgbClr val="0E5C56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3429457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t/yr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80760" y="4152290"/>
            <a:ext cx="163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50080" y="4773168"/>
            <a:ext cx="326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 CO2 Calculator (NITI Aayog)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95800" y="51206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replace with your own petrol vs. EV result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168640" y="2057400"/>
            <a:ext cx="344424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68640" y="2057400"/>
            <a:ext cx="3444240" cy="292608"/>
          </a:xfrm>
          <a:prstGeom prst="rect">
            <a:avLst/>
          </a:prstGeom>
          <a:solidFill>
            <a:srgbClr val="E7EEEC"/>
          </a:solidFill>
          <a:ln/>
        </p:spPr>
      </p:sp>
      <p:sp>
        <p:nvSpPr>
          <p:cNvPr id="37" name="Shape 35"/>
          <p:cNvSpPr/>
          <p:nvPr/>
        </p:nvSpPr>
        <p:spPr>
          <a:xfrm>
            <a:off x="8278368" y="2157984"/>
            <a:ext cx="91440" cy="91440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38" name="Shape 36"/>
          <p:cNvSpPr/>
          <p:nvPr/>
        </p:nvSpPr>
        <p:spPr>
          <a:xfrm>
            <a:off x="8424672" y="2157984"/>
            <a:ext cx="91440" cy="91440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39" name="Shape 37"/>
          <p:cNvSpPr/>
          <p:nvPr/>
        </p:nvSpPr>
        <p:spPr>
          <a:xfrm>
            <a:off x="8570976" y="2157984"/>
            <a:ext cx="91440" cy="91440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40" name="Shape 38"/>
          <p:cNvSpPr/>
          <p:nvPr/>
        </p:nvSpPr>
        <p:spPr>
          <a:xfrm>
            <a:off x="8763000" y="2112264"/>
            <a:ext cx="271272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FE0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08720" y="2107692"/>
            <a:ext cx="2621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nando.ai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397240" y="2560320"/>
            <a:ext cx="922528" cy="882396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63295" y="2863864"/>
            <a:ext cx="590418" cy="508260"/>
          </a:xfrm>
          <a:prstGeom prst="roundRect">
            <a:avLst>
              <a:gd name="adj" fmla="val 5397"/>
            </a:avLst>
          </a:prstGeom>
          <a:solidFill>
            <a:srgbClr val="C1442E"/>
          </a:solidFill>
          <a:ln/>
        </p:spPr>
      </p:sp>
      <p:sp>
        <p:nvSpPr>
          <p:cNvPr id="44" name="Shape 42"/>
          <p:cNvSpPr/>
          <p:nvPr/>
        </p:nvSpPr>
        <p:spPr>
          <a:xfrm>
            <a:off x="9429496" y="2560320"/>
            <a:ext cx="922528" cy="882396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95551" y="3149761"/>
            <a:ext cx="590418" cy="222364"/>
          </a:xfrm>
          <a:prstGeom prst="roundRect">
            <a:avLst>
              <a:gd name="adj" fmla="val 12337"/>
            </a:avLst>
          </a:prstGeom>
          <a:solidFill>
            <a:srgbClr val="0E5C56"/>
          </a:solidFill>
          <a:ln/>
        </p:spPr>
      </p:sp>
      <p:sp>
        <p:nvSpPr>
          <p:cNvPr id="46" name="Shape 44"/>
          <p:cNvSpPr/>
          <p:nvPr/>
        </p:nvSpPr>
        <p:spPr>
          <a:xfrm>
            <a:off x="10461752" y="2560320"/>
            <a:ext cx="922528" cy="882396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27807" y="2990929"/>
            <a:ext cx="590418" cy="381195"/>
          </a:xfrm>
          <a:prstGeom prst="roundRect">
            <a:avLst>
              <a:gd name="adj" fmla="val 7196"/>
            </a:avLst>
          </a:prstGeom>
          <a:solidFill>
            <a:srgbClr val="0E5C56"/>
          </a:solidFill>
          <a:ln/>
        </p:spPr>
      </p:sp>
      <p:sp>
        <p:nvSpPr>
          <p:cNvPr id="48" name="Shape 46"/>
          <p:cNvSpPr/>
          <p:nvPr/>
        </p:nvSpPr>
        <p:spPr>
          <a:xfrm>
            <a:off x="8397240" y="3552444"/>
            <a:ext cx="922528" cy="882396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63295" y="4205417"/>
            <a:ext cx="590418" cy="158831"/>
          </a:xfrm>
          <a:prstGeom prst="roundRect">
            <a:avLst>
              <a:gd name="adj" fmla="val 17271"/>
            </a:avLst>
          </a:prstGeom>
          <a:solidFill>
            <a:srgbClr val="0E5C56"/>
          </a:solidFill>
          <a:ln/>
        </p:spPr>
      </p:sp>
      <p:sp>
        <p:nvSpPr>
          <p:cNvPr id="50" name="Shape 48"/>
          <p:cNvSpPr/>
          <p:nvPr/>
        </p:nvSpPr>
        <p:spPr>
          <a:xfrm>
            <a:off x="9429496" y="3552444"/>
            <a:ext cx="922528" cy="882396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95551" y="3824222"/>
            <a:ext cx="590418" cy="540026"/>
          </a:xfrm>
          <a:prstGeom prst="roundRect">
            <a:avLst>
              <a:gd name="adj" fmla="val 5080"/>
            </a:avLst>
          </a:prstGeom>
          <a:solidFill>
            <a:srgbClr val="C1442E"/>
          </a:solidFill>
          <a:ln/>
        </p:spPr>
      </p:sp>
      <p:sp>
        <p:nvSpPr>
          <p:cNvPr id="52" name="Shape 50"/>
          <p:cNvSpPr/>
          <p:nvPr/>
        </p:nvSpPr>
        <p:spPr>
          <a:xfrm>
            <a:off x="10461752" y="3552444"/>
            <a:ext cx="922528" cy="882396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CFE0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27807" y="4046586"/>
            <a:ext cx="590418" cy="317663"/>
          </a:xfrm>
          <a:prstGeom prst="roundRect">
            <a:avLst>
              <a:gd name="adj" fmla="val 8636"/>
            </a:avLst>
          </a:prstGeom>
          <a:solidFill>
            <a:srgbClr val="0E5C56"/>
          </a:solidFill>
          <a:ln/>
        </p:spPr>
      </p:sp>
      <p:sp>
        <p:nvSpPr>
          <p:cNvPr id="54" name="Text 52"/>
          <p:cNvSpPr/>
          <p:nvPr/>
        </p:nvSpPr>
        <p:spPr>
          <a:xfrm>
            <a:off x="8260080" y="4773168"/>
            <a:ext cx="326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 AI Waste Monitoring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305800" y="512064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replace with the real dashboard screenshot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 Sustainable Future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3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114800" cy="4114800"/>
          </a:xfrm>
          <a:prstGeom prst="ellipse">
            <a:avLst/>
          </a:prstGeom>
          <a:solidFill>
            <a:srgbClr val="0E5C56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CONCEPT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Green Skilling?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 means training people — students, workers, and job-seekers — in the practical abilities needed for jobs that protect or restore the environment: solar installation, waste management, energy auditing, and sustainable farming among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" y="3218688"/>
            <a:ext cx="384048" cy="384048"/>
          </a:xfrm>
          <a:prstGeom prst="ellipse">
            <a:avLst/>
          </a:prstGeom>
          <a:solidFill>
            <a:srgbClr val="0F413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8" y="3310860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3154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Skill Council for Green Jobs (SCGJ) has trained 575,000+ people since 2015 across solar, waste management and renewable energy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6656" y="4151376"/>
            <a:ext cx="384048" cy="384048"/>
          </a:xfrm>
          <a:prstGeom prst="ellipse">
            <a:avLst/>
          </a:prstGeom>
          <a:solidFill>
            <a:srgbClr val="0F413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8" y="4243548"/>
            <a:ext cx="199705" cy="1997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0873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economy could add 3 million jobs in India's renewable sector alone by 2030 (ILO estimate)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76656" y="5084064"/>
            <a:ext cx="384048" cy="384048"/>
          </a:xfrm>
          <a:prstGeom prst="ellipse">
            <a:avLst/>
          </a:prstGeom>
          <a:solidFill>
            <a:srgbClr val="0F413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8" y="5176236"/>
            <a:ext cx="199705" cy="1997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502005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 and similar govt. platforms pair public awareness tools with the skilling push, linking data to workforce policy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315200" y="1600200"/>
            <a:ext cx="4297680" cy="4572000"/>
          </a:xfrm>
          <a:prstGeom prst="roundRect">
            <a:avLst>
              <a:gd name="adj" fmla="val 1702"/>
            </a:avLst>
          </a:prstGeom>
          <a:solidFill>
            <a:srgbClr val="0F413C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006840" y="1874520"/>
            <a:ext cx="914400" cy="914400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3524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Green-Skill Sectors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63524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Renewable Energy (Suryamitra)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6352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Water Management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63524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 Auditing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63524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Agriculture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63524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&amp; Green Mobility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 Sustainable Future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Sustainability Actually Mean?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means meeting today's needs without compromising the ability of future generations to meet theirs — balanced across three interlocking pillars.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E1F0E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13560" y="25603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016" y="277977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57600"/>
            <a:ext cx="289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271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ecosystems, biodiversity, air, water and the climate system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58640" y="228600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FBEAE0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5603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277977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2960" y="3657600"/>
            <a:ext cx="289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24400" y="4160520"/>
            <a:ext cx="271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and livelihoods that don't deplete resources faster than they renew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68640" y="228600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FBF3DA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33560" y="25603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3016" y="277977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2960" y="3657600"/>
            <a:ext cx="289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34400" y="4160520"/>
            <a:ext cx="271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access to health, education, and opportunity across communities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 Sustainable Future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Sustainability — Two Sides of the Same Circuit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E1F0EC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1851660"/>
            <a:ext cx="594360" cy="594360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626" y="19943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874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Helps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00100" y="27843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1" y="2905049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432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farming cuts water &amp; pesticide use via satellite + sensor data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00100" y="36530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801" y="3773729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6118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models (like En-ROADS) simulate policy impact before real-world rollout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00100" y="45217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01" y="4642409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4805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bins (e.g. NANDO) sort waste and cut landfill contamination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800100" y="53903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801" y="5511089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53492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grids balance renewable supply and demand in real time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172200" y="160020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BE7E3"/>
          </a:solidFill>
          <a:ln/>
        </p:spPr>
      </p:sp>
      <p:sp>
        <p:nvSpPr>
          <p:cNvPr id="21" name="Shape 14"/>
          <p:cNvSpPr/>
          <p:nvPr/>
        </p:nvSpPr>
        <p:spPr>
          <a:xfrm>
            <a:off x="6606540" y="1851660"/>
            <a:ext cx="594360" cy="594360"/>
          </a:xfrm>
          <a:prstGeom prst="ellipse">
            <a:avLst/>
          </a:prstGeom>
          <a:solidFill>
            <a:srgbClr val="C1442E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9186" y="1994306"/>
            <a:ext cx="309067" cy="30906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589520" y="1874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Environmental Cost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6423660" y="27843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4361" y="2905049"/>
            <a:ext cx="261518" cy="26151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40880" y="27432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large models burns huge amounts of electricity, often from fossil-heavy grids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6423660" y="36530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4361" y="3773729"/>
            <a:ext cx="261518" cy="26151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040880" y="36118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Data-centre cooling consumes billions of litres of fresh water every year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6423660" y="45217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4361" y="4642409"/>
            <a:ext cx="261518" cy="26151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040880" y="44805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hardware turnover (GPUs, servers) adds to global e-waste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6423660" y="53903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4361" y="5511089"/>
            <a:ext cx="261518" cy="26151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040880" y="53492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AI demand strains local power grids — e.g. new data-centre approvals paused in parts of Ireland</a:t>
            </a:r>
            <a:endParaRPr lang="en-US" sz="1150" dirty="0"/>
          </a:p>
        </p:txBody>
      </p:sp>
      <p:sp>
        <p:nvSpPr>
          <p:cNvPr id="36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 Sustainable Future</a:t>
            </a:r>
            <a:endParaRPr lang="en-US" sz="1000" dirty="0"/>
          </a:p>
        </p:txBody>
      </p:sp>
      <p:sp>
        <p:nvSpPr>
          <p:cNvPr id="37" name="Text 2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E5C5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4380" y="571500"/>
            <a:ext cx="868680" cy="868680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" y="779983"/>
            <a:ext cx="451714" cy="451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SLIDE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 Ideas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applied to environment, sustainability &amp; SDG 17 — proposed project titles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3474720" cy="1920240"/>
          </a:xfrm>
          <a:prstGeom prst="roundRect">
            <a:avLst>
              <a:gd name="adj" fmla="val 3333"/>
            </a:avLst>
          </a:prstGeom>
          <a:solidFill>
            <a:srgbClr val="0F413C"/>
          </a:solidFill>
          <a:ln/>
        </p:spPr>
      </p:sp>
      <p:sp>
        <p:nvSpPr>
          <p:cNvPr id="9" name="Shape 6"/>
          <p:cNvSpPr/>
          <p:nvPr/>
        </p:nvSpPr>
        <p:spPr>
          <a:xfrm>
            <a:off x="722376" y="2276856"/>
            <a:ext cx="566928" cy="566928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39" y="2412919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SmartSort AI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7724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vision-based AI model that identifies and sorts recyclable waste in real time for community bins (SDG 12/17).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43400" y="2148840"/>
            <a:ext cx="3474720" cy="1920240"/>
          </a:xfrm>
          <a:prstGeom prst="roundRect">
            <a:avLst>
              <a:gd name="adj" fmla="val 3333"/>
            </a:avLst>
          </a:prstGeom>
          <a:solidFill>
            <a:srgbClr val="0F413C"/>
          </a:solidFill>
          <a:ln/>
        </p:spPr>
      </p:sp>
      <p:sp>
        <p:nvSpPr>
          <p:cNvPr id="14" name="Shape 10"/>
          <p:cNvSpPr/>
          <p:nvPr/>
        </p:nvSpPr>
        <p:spPr>
          <a:xfrm>
            <a:off x="4517136" y="2276856"/>
            <a:ext cx="566928" cy="566928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199" y="2412919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GridWise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tool that predicts campus/city electricity demand to shift usage toward renewable-heavy hours.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138160" y="2148840"/>
            <a:ext cx="3474720" cy="1920240"/>
          </a:xfrm>
          <a:prstGeom prst="roundRect">
            <a:avLst>
              <a:gd name="adj" fmla="val 3333"/>
            </a:avLst>
          </a:prstGeom>
          <a:solidFill>
            <a:srgbClr val="0F413C"/>
          </a:solidFill>
          <a:ln/>
        </p:spPr>
      </p:sp>
      <p:sp>
        <p:nvSpPr>
          <p:cNvPr id="19" name="Shape 14"/>
          <p:cNvSpPr/>
          <p:nvPr/>
        </p:nvSpPr>
        <p:spPr>
          <a:xfrm>
            <a:off x="8311896" y="2276856"/>
            <a:ext cx="566928" cy="566928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959" y="2412919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676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AgroSense AI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36676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sensor + AI dashboard for small farmers to optimise irrigation and reduce water waste.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4389120"/>
            <a:ext cx="3474720" cy="1920240"/>
          </a:xfrm>
          <a:prstGeom prst="roundRect">
            <a:avLst>
              <a:gd name="adj" fmla="val 3333"/>
            </a:avLst>
          </a:prstGeom>
          <a:solidFill>
            <a:srgbClr val="0F413C"/>
          </a:solidFill>
          <a:ln/>
        </p:spPr>
      </p:sp>
      <p:sp>
        <p:nvSpPr>
          <p:cNvPr id="24" name="Shape 18"/>
          <p:cNvSpPr/>
          <p:nvPr/>
        </p:nvSpPr>
        <p:spPr>
          <a:xfrm>
            <a:off x="722376" y="4517136"/>
            <a:ext cx="566928" cy="566928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439" y="4653199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CarbonTrack Campus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77240" y="5532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carbon-footprint tracking app for colleges that benchmarks departments and gamifies reduction targets.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343400" y="4389120"/>
            <a:ext cx="3474720" cy="1920240"/>
          </a:xfrm>
          <a:prstGeom prst="roundRect">
            <a:avLst>
              <a:gd name="adj" fmla="val 3333"/>
            </a:avLst>
          </a:prstGeom>
          <a:solidFill>
            <a:srgbClr val="0F413C"/>
          </a:solidFill>
          <a:ln/>
        </p:spPr>
      </p:sp>
      <p:sp>
        <p:nvSpPr>
          <p:cNvPr id="29" name="Shape 22"/>
          <p:cNvSpPr/>
          <p:nvPr/>
        </p:nvSpPr>
        <p:spPr>
          <a:xfrm>
            <a:off x="4517136" y="4517136"/>
            <a:ext cx="566928" cy="566928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3199" y="4653199"/>
            <a:ext cx="294803" cy="29480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57200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OpenData4SDG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4572000" y="5532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API connecting government sustainability data (like e-AMRIT) with NGOs and student researchers — living out SDG 17's partnership goal.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8138160" y="4389120"/>
            <a:ext cx="3474720" cy="1920240"/>
          </a:xfrm>
          <a:prstGeom prst="roundRect">
            <a:avLst>
              <a:gd name="adj" fmla="val 3333"/>
            </a:avLst>
          </a:prstGeom>
          <a:solidFill>
            <a:srgbClr val="0F413C"/>
          </a:solidFill>
          <a:ln/>
        </p:spPr>
      </p:sp>
      <p:sp>
        <p:nvSpPr>
          <p:cNvPr id="34" name="Shape 26"/>
          <p:cNvSpPr/>
          <p:nvPr/>
        </p:nvSpPr>
        <p:spPr>
          <a:xfrm>
            <a:off x="8311896" y="4517136"/>
            <a:ext cx="566928" cy="566928"/>
          </a:xfrm>
          <a:prstGeom prst="ellipse">
            <a:avLst/>
          </a:prstGeom>
          <a:solidFill>
            <a:srgbClr val="0E5C56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7959" y="4653199"/>
            <a:ext cx="294803" cy="29480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36676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MicroClimate Simulator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8366760" y="5532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simplified, education-focused version of En-ROADS for schools to model local climate policy choices.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 Sustainable Future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a Sustainable Future</dc:title>
  <dc:subject>PptxGenJS Presentation</dc:subject>
  <dc:creator>Student</dc:creator>
  <cp:lastModifiedBy>Virendra Patil</cp:lastModifiedBy>
  <cp:revision>2</cp:revision>
  <dcterms:created xsi:type="dcterms:W3CDTF">2026-07-08T04:29:19Z</dcterms:created>
  <dcterms:modified xsi:type="dcterms:W3CDTF">2026-07-08T04:54:00Z</dcterms:modified>
</cp:coreProperties>
</file>